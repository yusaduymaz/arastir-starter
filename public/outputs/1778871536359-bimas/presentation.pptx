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7315200" cy="914400"/>
          </a:xfrm>
          <a:prstGeom prst="rect">
            <a:avLst/>
          </a:prstGeom>
          <a:noFill/>
          <a:ln/>
        </p:spPr>
        <p:txBody>
          <a:bodyPr wrap="square" rtlCol="0" anchor="ctr"/>
          <a:lstStyle/>
          <a:p>
            <a:pPr algn="ctr" indent="0" marL="0">
              <a:buNone/>
            </a:pPr>
            <a:r>
              <a:rPr lang="en-US" sz="2400" b="1" dirty="0">
                <a:solidFill>
                  <a:srgbClr val="363636"/>
                </a:solidFill>
              </a:rPr>
              <a:t>BIMAS Sektorel Analiz Raporu</a:t>
            </a:r>
            <a:endParaRPr lang="en-US" sz="2400" dirty="0"/>
          </a:p>
        </p:txBody>
      </p:sp>
      <p:sp>
        <p:nvSpPr>
          <p:cNvPr id="3" name="Text 1"/>
          <p:cNvSpPr/>
          <p:nvPr/>
        </p:nvSpPr>
        <p:spPr>
          <a:xfrm>
            <a:off x="914400" y="2286000"/>
            <a:ext cx="7315200" cy="457200"/>
          </a:xfrm>
          <a:prstGeom prst="rect">
            <a:avLst/>
          </a:prstGeom>
          <a:noFill/>
          <a:ln/>
        </p:spPr>
        <p:txBody>
          <a:bodyPr wrap="square" rtlCol="0" anchor="ctr"/>
          <a:lstStyle/>
          <a:p>
            <a:pPr algn="ctr" indent="0" marL="0">
              <a:buNone/>
            </a:pPr>
            <a:r>
              <a:rPr lang="en-US" sz="1400" dirty="0">
                <a:solidFill>
                  <a:srgbClr val="666666"/>
                </a:solidFill>
              </a:rPr>
              <a:t>Kaynak: KAP, Currents API, Yahoo Finance &amp; TCMB EVDS</a:t>
            </a:r>
            <a:endParaRPr lang="en-US" sz="1400" dirty="0"/>
          </a:p>
        </p:txBody>
      </p:sp>
      <p:sp>
        <p:nvSpPr>
          <p:cNvPr id="4" name="Text 2"/>
          <p:cNvSpPr/>
          <p:nvPr/>
        </p:nvSpPr>
        <p:spPr>
          <a:xfrm>
            <a:off x="914400" y="2743200"/>
            <a:ext cx="7315200" cy="457200"/>
          </a:xfrm>
          <a:prstGeom prst="rect">
            <a:avLst/>
          </a:prstGeom>
          <a:noFill/>
          <a:ln/>
        </p:spPr>
        <p:txBody>
          <a:bodyPr wrap="square" rtlCol="0" anchor="ctr"/>
          <a:lstStyle/>
          <a:p>
            <a:pPr algn="ctr" indent="0" marL="0">
              <a:buNone/>
            </a:pPr>
            <a:r>
              <a:rPr lang="en-US" sz="1200" dirty="0">
                <a:solidFill>
                  <a:srgbClr val="666666"/>
                </a:solidFill>
              </a:rPr>
              <a:t>Oluşturulma Tarihi: 2026-05-15T18:58:56.359Z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Yönetici Özeti</a:t>
            </a:r>
            <a:endParaRPr lang="en-US" sz="1800" dirty="0"/>
          </a:p>
        </p:txBody>
      </p:sp>
      <p:sp>
        <p:nvSpPr>
          <p:cNvPr id="3" name="Text 1"/>
          <p:cNvSpPr/>
          <p:nvPr/>
        </p:nvSpPr>
        <p:spPr>
          <a:xfrm>
            <a:off x="457200" y="1097280"/>
            <a:ext cx="8229600" cy="3200400"/>
          </a:xfrm>
          <a:prstGeom prst="rect">
            <a:avLst/>
          </a:prstGeom>
          <a:noFill/>
          <a:ln/>
        </p:spPr>
        <p:txBody>
          <a:bodyPr wrap="square" rtlCol="0" anchor="t"/>
          <a:lstStyle/>
          <a:p>
            <a:pPr algn="l" indent="0" marL="0">
              <a:buNone/>
            </a:pPr>
            <a:r>
              <a:rPr lang="en-US" sz="1400" dirty="0">
                <a:solidFill>
                  <a:srgbClr val="444444"/>
                </a:solidFill>
              </a:rPr>
              <a:t>BIMAS hissesi, son piyasa verilerine göre 405.25 fiyat seviyesinde bulunuyor. Geçtiğimiz günlerde %100 bedelsiz sermaye artırımı gerçekleştiren şirket, bu adım ile piyasadaki konumunu güçlendirme amaçlıyor. F/K oranı 22.55 seviyesinde bulunan BIMAS, sektöründeki diğer şirketlerle kıyaslandığında güçlü bir temel analiz profiline sahip görünüyor.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Makroekonomik Bağlam</a:t>
            </a:r>
            <a:endParaRPr lang="en-US" sz="1800" dirty="0"/>
          </a:p>
        </p:txBody>
      </p:sp>
      <p:sp>
        <p:nvSpPr>
          <p:cNvPr id="3" name="Text 1"/>
          <p:cNvSpPr/>
          <p:nvPr/>
        </p:nvSpPr>
        <p:spPr>
          <a:xfrm>
            <a:off x="457200" y="1097280"/>
            <a:ext cx="8229600" cy="3200400"/>
          </a:xfrm>
          <a:prstGeom prst="rect">
            <a:avLst/>
          </a:prstGeom>
          <a:noFill/>
          <a:ln/>
        </p:spPr>
        <p:txBody>
          <a:bodyPr wrap="square" rtlCol="0" anchor="t"/>
          <a:lstStyle/>
          <a:p>
            <a:pPr algn="l" indent="0" marL="0">
              <a:buNone/>
            </a:pPr>
            <a:r>
              <a:rPr lang="en-US" sz="1400" dirty="0">
                <a:solidFill>
                  <a:srgbClr val="444444"/>
                </a:solidFill>
              </a:rPr>
              <a:t>Türk Lirası'nın dolar karşısındaki değeri son 3 aylık dönemde artmaya devam etti. USD/TRY kuru 44.07'den 45.22'ye çıktı. Faiz oranları ve enflasyon verileri缺, ancak makroekonomik dengeler şirketin gelecek projeksiyonlarını etkileyebilir. Tüketim malları sektöründeki gelişmeler ve spotřeb ciroları, BIMAS'ın satış rakamlarını ve gelirlerini doğrudan etkileyebilir.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Riskler ve Fırsatlar</a:t>
            </a:r>
            <a:endParaRPr lang="en-US" sz="1800" dirty="0"/>
          </a:p>
        </p:txBody>
      </p:sp>
      <p:sp>
        <p:nvSpPr>
          <p:cNvPr id="3" name="Text 1"/>
          <p:cNvSpPr/>
          <p:nvPr/>
        </p:nvSpPr>
        <p:spPr>
          <a:xfrm>
            <a:off x="457200" y="1097280"/>
            <a:ext cx="3657600" cy="274320"/>
          </a:xfrm>
          <a:prstGeom prst="rect">
            <a:avLst/>
          </a:prstGeom>
          <a:noFill/>
          <a:ln/>
        </p:spPr>
        <p:txBody>
          <a:bodyPr wrap="square" rtlCol="0" anchor="ctr"/>
          <a:lstStyle/>
          <a:p>
            <a:pPr indent="0" marL="0">
              <a:buNone/>
            </a:pPr>
            <a:r>
              <a:rPr lang="en-US" sz="1400" b="1" dirty="0">
                <a:solidFill>
                  <a:srgbClr val="FF0000"/>
                </a:solidFill>
              </a:rPr>
              <a:t>Riskler:</a:t>
            </a:r>
            <a:endParaRPr lang="en-US" sz="1400" dirty="0"/>
          </a:p>
        </p:txBody>
      </p:sp>
      <p:sp>
        <p:nvSpPr>
          <p:cNvPr id="4" name="Text 2"/>
          <p:cNvSpPr/>
          <p:nvPr/>
        </p:nvSpPr>
        <p:spPr>
          <a:xfrm>
            <a:off x="457200" y="1463040"/>
            <a:ext cx="3657600" cy="3200400"/>
          </a:xfrm>
          <a:prstGeom prst="rect">
            <a:avLst/>
          </a:prstGeom>
          <a:noFill/>
          <a:ln/>
        </p:spPr>
        <p:txBody>
          <a:bodyPr wrap="square" rtlCol="0" anchor="t"/>
          <a:lstStyle/>
          <a:p>
            <a:pPr indent="0" marL="0">
              <a:buNone/>
            </a:pPr>
            <a:r>
              <a:rPr lang="en-US" sz="1200" dirty="0">
                <a:solidFill>
                  <a:srgbClr val="444444"/>
                </a:solidFill>
              </a:rPr>
              <a:t>BIMAS'ın karşı karşıya olduğu riskler arasında Türk Lirası'nın dolar karşısındaki değer kaybetmesi, sektörel rekabetin artması ve ekonomik istikrarsızlık gibi faktörler yer alıyor. Ayrıca, son dönemdeki %100 bedelsiz sermaye artırımı之后 piyasa tepkisi de company açısından önemli bir risk teşkil ediyor.</a:t>
            </a:r>
            <a:endParaRPr lang="en-US" sz="1200" dirty="0"/>
          </a:p>
        </p:txBody>
      </p:sp>
      <p:sp>
        <p:nvSpPr>
          <p:cNvPr id="5" name="Text 3"/>
          <p:cNvSpPr/>
          <p:nvPr/>
        </p:nvSpPr>
        <p:spPr>
          <a:xfrm>
            <a:off x="4572000" y="1097280"/>
            <a:ext cx="3657600" cy="274320"/>
          </a:xfrm>
          <a:prstGeom prst="rect">
            <a:avLst/>
          </a:prstGeom>
          <a:noFill/>
          <a:ln/>
        </p:spPr>
        <p:txBody>
          <a:bodyPr wrap="square" rtlCol="0" anchor="ctr"/>
          <a:lstStyle/>
          <a:p>
            <a:pPr indent="0" marL="0">
              <a:buNone/>
            </a:pPr>
            <a:r>
              <a:rPr lang="en-US" sz="1400" b="1" dirty="0">
                <a:solidFill>
                  <a:srgbClr val="008000"/>
                </a:solidFill>
              </a:rPr>
              <a:t>Fırsatlar:</a:t>
            </a:r>
            <a:endParaRPr lang="en-US" sz="1400" dirty="0"/>
          </a:p>
        </p:txBody>
      </p:sp>
      <p:sp>
        <p:nvSpPr>
          <p:cNvPr id="6" name="Text 4"/>
          <p:cNvSpPr/>
          <p:nvPr/>
        </p:nvSpPr>
        <p:spPr>
          <a:xfrm>
            <a:off x="4572000" y="1463040"/>
            <a:ext cx="3657600" cy="3200400"/>
          </a:xfrm>
          <a:prstGeom prst="rect">
            <a:avLst/>
          </a:prstGeom>
          <a:noFill/>
          <a:ln/>
        </p:spPr>
        <p:txBody>
          <a:bodyPr wrap="square" rtlCol="0" anchor="t"/>
          <a:lstStyle/>
          <a:p>
            <a:pPr indent="0" marL="0">
              <a:buNone/>
            </a:pPr>
            <a:r>
              <a:rPr lang="en-US" sz="1200" dirty="0">
                <a:solidFill>
                  <a:srgbClr val="444444"/>
                </a:solidFill>
              </a:rPr>
              <a:t>BIMAS'ın avantajlı olduğu alanlar arasında güçlü marka bilinirliği, geniş müşteri kitlesi ve perakende sektöründeki deneyimi yer alıyor. Ekonomideki büyüme oranlarının artması ve tüketici harcamalarının tăngması da şirketin iş hacminin genişlemesine vesile olabilir. Bedelsiz sermaye artırımı之后 piyasadaki algının olumlu yönde gelişmesi de şirketin hisse değerini artırabilir.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Veri Özeti</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114800"/>
                <a:gridCol w="4114800"/>
              </a:tblGrid>
              <a:tr h="0">
                <a:tc>
                  <a:txBody>
                    <a:bodyPr/>
                    <a:lstStyle/>
                    <a:p>
                      <a:pPr indent="0" marL="0">
                        <a:buNone/>
                      </a:pPr>
                      <a:r>
                        <a:rPr lang="en-US" sz="1200" dirty="0">
                          <a:solidFill>
                            <a:srgbClr val="000000"/>
                          </a:solidFill>
                        </a:rPr>
                        <a:t>Etiket</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Değer</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Son KAP Bildirimleri</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0</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Incelenen Haber Sayisi</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1</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Guncel Fiyat (TL)</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405.25</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Gunluk Degisim</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-2.11%</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2026-05-15T18:58:56Z</dcterms:created>
  <dcterms:modified xsi:type="dcterms:W3CDTF">2026-05-15T18:58:56Z</dcterms:modified>
</cp:coreProperties>
</file>