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914400"/>
            <a:ext cx="7315200" cy="914400"/>
          </a:xfrm>
          <a:prstGeom prst="rect">
            <a:avLst/>
          </a:prstGeom>
          <a:noFill/>
          <a:ln/>
        </p:spPr>
        <p:txBody>
          <a:bodyPr wrap="square" rtlCol="0" anchor="ctr"/>
          <a:lstStyle/>
          <a:p>
            <a:pPr algn="ctr" indent="0" marL="0">
              <a:buNone/>
            </a:pPr>
            <a:r>
              <a:rPr lang="en-US" sz="2400" b="1" dirty="0">
                <a:solidFill>
                  <a:srgbClr val="363636"/>
                </a:solidFill>
              </a:rPr>
              <a:t>EREGL Sektorel Analiz Raporu</a:t>
            </a:r>
            <a:endParaRPr lang="en-US" sz="2400" dirty="0"/>
          </a:p>
        </p:txBody>
      </p:sp>
      <p:sp>
        <p:nvSpPr>
          <p:cNvPr id="3" name="Text 1"/>
          <p:cNvSpPr/>
          <p:nvPr/>
        </p:nvSpPr>
        <p:spPr>
          <a:xfrm>
            <a:off x="914400" y="2286000"/>
            <a:ext cx="7315200" cy="457200"/>
          </a:xfrm>
          <a:prstGeom prst="rect">
            <a:avLst/>
          </a:prstGeom>
          <a:noFill/>
          <a:ln/>
        </p:spPr>
        <p:txBody>
          <a:bodyPr wrap="square" rtlCol="0" anchor="ctr"/>
          <a:lstStyle/>
          <a:p>
            <a:pPr algn="ctr" indent="0" marL="0">
              <a:buNone/>
            </a:pPr>
            <a:r>
              <a:rPr lang="en-US" sz="1400" dirty="0">
                <a:solidFill>
                  <a:srgbClr val="666666"/>
                </a:solidFill>
              </a:rPr>
              <a:t>Kaynak: KAP, Currents API, Yahoo Finance &amp; TCMB EVDS</a:t>
            </a:r>
            <a:endParaRPr lang="en-US" sz="1400" dirty="0"/>
          </a:p>
        </p:txBody>
      </p:sp>
      <p:sp>
        <p:nvSpPr>
          <p:cNvPr id="4" name="Text 2"/>
          <p:cNvSpPr/>
          <p:nvPr/>
        </p:nvSpPr>
        <p:spPr>
          <a:xfrm>
            <a:off x="914400" y="2743200"/>
            <a:ext cx="7315200" cy="457200"/>
          </a:xfrm>
          <a:prstGeom prst="rect">
            <a:avLst/>
          </a:prstGeom>
          <a:noFill/>
          <a:ln/>
        </p:spPr>
        <p:txBody>
          <a:bodyPr wrap="square" rtlCol="0" anchor="ctr"/>
          <a:lstStyle/>
          <a:p>
            <a:pPr algn="ctr" indent="0" marL="0">
              <a:buNone/>
            </a:pPr>
            <a:r>
              <a:rPr lang="en-US" sz="1200" dirty="0">
                <a:solidFill>
                  <a:srgbClr val="666666"/>
                </a:solidFill>
              </a:rPr>
              <a:t>Oluşturulma Tarihi: 2026-05-17T18:22:46.484Z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Yönetici Özeti</a:t>
            </a:r>
            <a:endParaRPr lang="en-US" sz="1800" dirty="0"/>
          </a:p>
        </p:txBody>
      </p:sp>
      <p:sp>
        <p:nvSpPr>
          <p:cNvPr id="3" name="Text 1"/>
          <p:cNvSpPr/>
          <p:nvPr/>
        </p:nvSpPr>
        <p:spPr>
          <a:xfrm>
            <a:off x="457200" y="1097280"/>
            <a:ext cx="8229600" cy="3200400"/>
          </a:xfrm>
          <a:prstGeom prst="rect">
            <a:avLst/>
          </a:prstGeom>
          <a:noFill/>
          <a:ln/>
        </p:spPr>
        <p:txBody>
          <a:bodyPr wrap="square" rtlCol="0" anchor="t"/>
          <a:lstStyle/>
          <a:p>
            <a:pPr algn="l" indent="0" marL="0">
              <a:buNone/>
            </a:pPr>
            <a:r>
              <a:rPr lang="en-US" sz="1400" dirty="0">
                <a:solidFill>
                  <a:srgbClr val="444444"/>
                </a:solidFill>
              </a:rPr>
              <a:t># EREGL Hissesi Analizi </a:t>
            </a:r>
            <a:endParaRPr lang="en-US" sz="1400" dirty="0"/>
          </a:p>
          <a:p>
            <a:pPr algn="l" indent="0" marL="0">
              <a:buNone/>
            </a:pPr>
            <a:r>
              <a:rPr lang="en-US" sz="1400" dirty="0">
                <a:solidFill>
                  <a:srgbClr val="444444"/>
                </a:solidFill>
              </a:rPr>
              <a:t> EREGL hissesi, Basic Materials sektöründe faaliyet gösteren bir şirket olup, son verilere göre 39.62 TL'de işlem görüyor. Fiyatın son 52 hafta içindeki yüksek ve düşük değerleri sırasıyla 43.72 TL ve 22.92 TL olarak kaydedilmiş vinden.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Makroekonomik Bağlam</a:t>
            </a:r>
            <a:endParaRPr lang="en-US" sz="1800" dirty="0"/>
          </a:p>
        </p:txBody>
      </p:sp>
      <p:sp>
        <p:nvSpPr>
          <p:cNvPr id="3" name="Text 1"/>
          <p:cNvSpPr/>
          <p:nvPr/>
        </p:nvSpPr>
        <p:spPr>
          <a:xfrm>
            <a:off x="457200" y="1097280"/>
            <a:ext cx="8229600" cy="3200400"/>
          </a:xfrm>
          <a:prstGeom prst="rect">
            <a:avLst/>
          </a:prstGeom>
          <a:noFill/>
          <a:ln/>
        </p:spPr>
        <p:txBody>
          <a:bodyPr wrap="square" rtlCol="0" anchor="t"/>
          <a:lstStyle/>
          <a:p>
            <a:pPr algn="l" indent="0" marL="0">
              <a:buNone/>
            </a:pPr>
            <a:r>
              <a:rPr lang="en-US" sz="1400" dirty="0">
                <a:solidFill>
                  <a:srgbClr val="444444"/>
                </a:solidFill>
              </a:rPr>
              <a:t># Makroekonomik Bağlam </a:t>
            </a:r>
            <a:endParaRPr lang="en-US" sz="1400" dirty="0"/>
          </a:p>
          <a:p>
            <a:pPr algn="l" indent="0" marL="0">
              <a:buNone/>
            </a:pPr>
            <a:r>
              <a:rPr lang="en-US" sz="1400" dirty="0">
                <a:solidFill>
                  <a:srgbClr val="444444"/>
                </a:solidFill>
              </a:rPr>
              <a:t> USD/TRY kurundaki artış, şirketin ithalat maliyetlerini artırabilir. Ancak, hükümetin destek politikaları ve yurt içi talebin artması, şirketin faaliyetlerini olumlu etkileyebilir.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Riskler ve Fırsatlar</a:t>
            </a:r>
            <a:endParaRPr lang="en-US" sz="1800" dirty="0"/>
          </a:p>
        </p:txBody>
      </p:sp>
      <p:sp>
        <p:nvSpPr>
          <p:cNvPr id="3" name="Text 1"/>
          <p:cNvSpPr/>
          <p:nvPr/>
        </p:nvSpPr>
        <p:spPr>
          <a:xfrm>
            <a:off x="457200" y="1097280"/>
            <a:ext cx="3657600" cy="274320"/>
          </a:xfrm>
          <a:prstGeom prst="rect">
            <a:avLst/>
          </a:prstGeom>
          <a:noFill/>
          <a:ln/>
        </p:spPr>
        <p:txBody>
          <a:bodyPr wrap="square" rtlCol="0" anchor="ctr"/>
          <a:lstStyle/>
          <a:p>
            <a:pPr indent="0" marL="0">
              <a:buNone/>
            </a:pPr>
            <a:r>
              <a:rPr lang="en-US" sz="1400" b="1" dirty="0">
                <a:solidFill>
                  <a:srgbClr val="FF0000"/>
                </a:solidFill>
              </a:rPr>
              <a:t>Riskler:</a:t>
            </a:r>
            <a:endParaRPr lang="en-US" sz="1400" dirty="0"/>
          </a:p>
        </p:txBody>
      </p:sp>
      <p:sp>
        <p:nvSpPr>
          <p:cNvPr id="4" name="Text 2"/>
          <p:cNvSpPr/>
          <p:nvPr/>
        </p:nvSpPr>
        <p:spPr>
          <a:xfrm>
            <a:off x="457200" y="1463040"/>
            <a:ext cx="3657600" cy="3200400"/>
          </a:xfrm>
          <a:prstGeom prst="rect">
            <a:avLst/>
          </a:prstGeom>
          <a:noFill/>
          <a:ln/>
        </p:spPr>
        <p:txBody>
          <a:bodyPr wrap="square" rtlCol="0" anchor="t"/>
          <a:lstStyle/>
          <a:p>
            <a:pPr indent="0" marL="0">
              <a:buNone/>
            </a:pPr>
            <a:r>
              <a:rPr lang="en-US" sz="1200" dirty="0">
                <a:solidFill>
                  <a:srgbClr val="444444"/>
                </a:solidFill>
              </a:rPr>
              <a:t># Risk Faktörleri </a:t>
            </a:r>
            <a:endParaRPr lang="en-US" sz="1200" dirty="0"/>
          </a:p>
          <a:p>
            <a:pPr indent="0" marL="0">
              <a:buNone/>
            </a:pPr>
            <a:r>
              <a:rPr lang="en-US" sz="1200" dirty="0">
                <a:solidFill>
                  <a:srgbClr val="444444"/>
                </a:solidFill>
              </a:rPr>
              <a:t> * Döviz kurlarındaki artışın şirketin ithalat maliyetlerini artırma olasılığı </a:t>
            </a:r>
            <a:endParaRPr lang="en-US" sz="1200" dirty="0"/>
          </a:p>
          <a:p>
            <a:pPr indent="0" marL="0">
              <a:buNone/>
            </a:pPr>
            <a:r>
              <a:rPr lang="en-US" sz="1200" dirty="0">
                <a:solidFill>
                  <a:srgbClr val="444444"/>
                </a:solidFill>
              </a:rPr>
              <a:t> * Sektördeki rekabetin şirketin kârlılığını olumsuz etkileme ihtimali </a:t>
            </a:r>
            <a:endParaRPr lang="en-US" sz="1200" dirty="0"/>
          </a:p>
          <a:p>
            <a:pPr indent="0" marL="0">
              <a:buNone/>
            </a:pPr>
            <a:r>
              <a:rPr lang="en-US" sz="1200" dirty="0">
                <a:solidFill>
                  <a:srgbClr val="444444"/>
                </a:solidFill>
              </a:rPr>
              <a:t> * Makroekonomik koşullardaki dalgalanmaların şirketin faaliyetlerini olumsuz etkilemesi</a:t>
            </a:r>
            <a:endParaRPr lang="en-US" sz="1200" dirty="0"/>
          </a:p>
        </p:txBody>
      </p:sp>
      <p:sp>
        <p:nvSpPr>
          <p:cNvPr id="5" name="Text 3"/>
          <p:cNvSpPr/>
          <p:nvPr/>
        </p:nvSpPr>
        <p:spPr>
          <a:xfrm>
            <a:off x="4572000" y="1097280"/>
            <a:ext cx="3657600" cy="274320"/>
          </a:xfrm>
          <a:prstGeom prst="rect">
            <a:avLst/>
          </a:prstGeom>
          <a:noFill/>
          <a:ln/>
        </p:spPr>
        <p:txBody>
          <a:bodyPr wrap="square" rtlCol="0" anchor="ctr"/>
          <a:lstStyle/>
          <a:p>
            <a:pPr indent="0" marL="0">
              <a:buNone/>
            </a:pPr>
            <a:r>
              <a:rPr lang="en-US" sz="1400" b="1" dirty="0">
                <a:solidFill>
                  <a:srgbClr val="008000"/>
                </a:solidFill>
              </a:rPr>
              <a:t>Fırsatlar:</a:t>
            </a:r>
            <a:endParaRPr lang="en-US" sz="1400" dirty="0"/>
          </a:p>
        </p:txBody>
      </p:sp>
      <p:sp>
        <p:nvSpPr>
          <p:cNvPr id="6" name="Text 4"/>
          <p:cNvSpPr/>
          <p:nvPr/>
        </p:nvSpPr>
        <p:spPr>
          <a:xfrm>
            <a:off x="4572000" y="1463040"/>
            <a:ext cx="3657600" cy="3200400"/>
          </a:xfrm>
          <a:prstGeom prst="rect">
            <a:avLst/>
          </a:prstGeom>
          <a:noFill/>
          <a:ln/>
        </p:spPr>
        <p:txBody>
          <a:bodyPr wrap="square" rtlCol="0" anchor="t"/>
          <a:lstStyle/>
          <a:p>
            <a:pPr indent="0" marL="0">
              <a:buNone/>
            </a:pPr>
            <a:r>
              <a:rPr lang="en-US" sz="1200" dirty="0">
                <a:solidFill>
                  <a:srgbClr val="444444"/>
                </a:solidFill>
              </a:rPr>
              <a:t># Fırsat Alanları </a:t>
            </a:r>
            <a:endParaRPr lang="en-US" sz="1200" dirty="0"/>
          </a:p>
          <a:p>
            <a:pPr indent="0" marL="0">
              <a:buNone/>
            </a:pPr>
            <a:r>
              <a:rPr lang="en-US" sz="1200" dirty="0">
                <a:solidFill>
                  <a:srgbClr val="444444"/>
                </a:solidFill>
              </a:rPr>
              <a:t> * İthalat maliyetlerindeki artışa rağmen, yurt içi talebin artmasıyla şirketin satışlarının artma olasılığı </a:t>
            </a:r>
            <a:endParaRPr lang="en-US" sz="1200" dirty="0"/>
          </a:p>
          <a:p>
            <a:pPr indent="0" marL="0">
              <a:buNone/>
            </a:pPr>
            <a:r>
              <a:rPr lang="en-US" sz="1200" dirty="0">
                <a:solidFill>
                  <a:srgbClr val="444444"/>
                </a:solidFill>
              </a:rPr>
              <a:t> * Şirketin üretim kapasitesini artırarak Pazar payını genişletme ihtimali </a:t>
            </a:r>
            <a:endParaRPr lang="en-US" sz="1200" dirty="0"/>
          </a:p>
          <a:p>
            <a:pPr indent="0" marL="0">
              <a:buNone/>
            </a:pPr>
            <a:r>
              <a:rPr lang="en-US" sz="1200" dirty="0">
                <a:solidFill>
                  <a:srgbClr val="444444"/>
                </a:solidFill>
              </a:rPr>
              <a:t> * Hükümetin sanayi destek politikalarıyla şirketin yatırım teşviklerinden yararlanabileceği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indent="0" marL="0">
              <a:buNone/>
            </a:pPr>
            <a:r>
              <a:rPr lang="en-US" sz="1800" b="1" dirty="0">
                <a:solidFill>
                  <a:srgbClr val="363636"/>
                </a:solidFill>
              </a:rPr>
              <a:t>Veri Özeti</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114800"/>
                <a:gridCol w="4114800"/>
              </a:tblGrid>
              <a:tr h="0">
                <a:tc>
                  <a:txBody>
                    <a:bodyPr/>
                    <a:lstStyle/>
                    <a:p>
                      <a:pPr indent="0" marL="0">
                        <a:buNone/>
                      </a:pPr>
                      <a:r>
                        <a:rPr lang="en-US" sz="1200" dirty="0">
                          <a:solidFill>
                            <a:srgbClr val="000000"/>
                          </a:solidFill>
                        </a:rPr>
                        <a:t>Etiket</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Değer</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Son KAP Bildirimleri</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0</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Incelenen Haber Sayisi</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0</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Guncel Fiyat (TL)</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39.62</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r h="0">
                <a:tc>
                  <a:txBody>
                    <a:bodyPr/>
                    <a:lstStyle/>
                    <a:p>
                      <a:pPr indent="0" marL="0">
                        <a:buNone/>
                      </a:pPr>
                      <a:r>
                        <a:rPr lang="en-US" sz="1200" dirty="0">
                          <a:solidFill>
                            <a:srgbClr val="000000"/>
                          </a:solidFill>
                        </a:rPr>
                        <a:t>Gunluk Degisim</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c>
                  <a:txBody>
                    <a:bodyPr/>
                    <a:lstStyle/>
                    <a:p>
                      <a:pPr indent="0" marL="0">
                        <a:buNone/>
                      </a:pPr>
                      <a:r>
                        <a:rPr lang="en-US" sz="1200" dirty="0">
                          <a:solidFill>
                            <a:srgbClr val="000000"/>
                          </a:solidFill>
                        </a:rPr>
                        <a:t>-0.30%</a:t>
                      </a:r>
                      <a:endParaRPr lang="en-US" sz="1200" dirty="0"/>
                    </a:p>
                  </a:txBody>
                  <a:tcPr marL="91440" marR="91440" marT="45720" marB="4572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7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2026-05-17T18:22:47Z</dcterms:created>
  <dcterms:modified xsi:type="dcterms:W3CDTF">2026-05-17T18:22:47Z</dcterms:modified>
</cp:coreProperties>
</file>