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2400" b="1" dirty="0">
                <a:solidFill>
                  <a:srgbClr val="363636"/>
                </a:solidFill>
              </a:rPr>
              <a:t>ENERJI Sektörel Analiz Raporu</a:t>
            </a:r>
            <a:endParaRPr lang="en-US" sz="2400" dirty="0"/>
          </a:p>
        </p:txBody>
      </p:sp>
      <p:sp>
        <p:nvSpPr>
          <p:cNvPr id="3" name="Text 1"/>
          <p:cNvSpPr/>
          <p:nvPr/>
        </p:nvSpPr>
        <p:spPr>
          <a:xfrm>
            <a:off x="914400" y="2286000"/>
            <a:ext cx="7315200" cy="457200"/>
          </a:xfrm>
          <a:prstGeom prst="rect">
            <a:avLst/>
          </a:prstGeom>
          <a:noFill/>
          <a:ln/>
        </p:spPr>
        <p:txBody>
          <a:bodyPr wrap="square" rtlCol="0" anchor="ctr"/>
          <a:lstStyle/>
          <a:p>
            <a:pPr algn="ctr" indent="0" marL="0">
              <a:buNone/>
            </a:pPr>
            <a:r>
              <a:rPr lang="en-US" sz="1400" dirty="0">
                <a:solidFill>
                  <a:srgbClr val="666666"/>
                </a:solidFill>
              </a:rPr>
              <a:t>Kaynak: KAP, Currents API, Yahoo Finance &amp; TCMB EVDS</a:t>
            </a:r>
            <a:endParaRPr lang="en-US" sz="1400" dirty="0"/>
          </a:p>
        </p:txBody>
      </p:sp>
      <p:sp>
        <p:nvSpPr>
          <p:cNvPr id="4" name="Text 2"/>
          <p:cNvSpPr/>
          <p:nvPr/>
        </p:nvSpPr>
        <p:spPr>
          <a:xfrm>
            <a:off x="914400" y="2743200"/>
            <a:ext cx="7315200" cy="457200"/>
          </a:xfrm>
          <a:prstGeom prst="rect">
            <a:avLst/>
          </a:prstGeom>
          <a:noFill/>
          <a:ln/>
        </p:spPr>
        <p:txBody>
          <a:bodyPr wrap="square" rtlCol="0" anchor="ctr"/>
          <a:lstStyle/>
          <a:p>
            <a:pPr algn="ctr" indent="0" marL="0">
              <a:buNone/>
            </a:pPr>
            <a:r>
              <a:rPr lang="en-US" sz="1200" dirty="0">
                <a:solidFill>
                  <a:srgbClr val="666666"/>
                </a:solidFill>
              </a:rPr>
              <a:t>Oluşturulma Tarihi: 2026-05-19T21:50:10.293Z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Yönetici Özeti</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 ENERJI Hisse Analizi</a:t>
            </a:r>
            <a:endParaRPr lang="en-US" sz="1400" dirty="0"/>
          </a:p>
          <a:p>
            <a:pPr algn="l" indent="0" marL="0">
              <a:buNone/>
            </a:pPr>
            <a:r>
              <a:rPr lang="en-US" sz="1400" dirty="0">
                <a:solidFill>
                  <a:srgbClr val="444444"/>
                </a:solidFill>
              </a:rPr>
              <a:t>ENERJI hissesi için yapılan analiz, güncel piyasa verileri ve makroekonomik koşulların değerlendirilmesini içerir. Hisse senedinin performansı, enerji sektörünün trendleri ve genel ekonomik koşullarla ilişkilendirilmiştir. Veriler, hisse senedi ile ilgili kararlar alınmasına yardımcı olacak bir çerçeve sunmaktadır.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Makroekonomik Bağlam</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 Makroekonomik Bağlam</a:t>
            </a:r>
            <a:endParaRPr lang="en-US" sz="1400" dirty="0"/>
          </a:p>
          <a:p>
            <a:pPr algn="l" indent="0" marL="0">
              <a:buNone/>
            </a:pPr>
            <a:r>
              <a:rPr lang="en-US" sz="1400" dirty="0">
                <a:solidFill>
                  <a:srgbClr val="444444"/>
                </a:solidFill>
              </a:rPr>
              <a:t>Makroekonomik bağlam, TCMB EVDS verilerine göre son 3 ayda USD/TRY kurunun artışı ile caractirizedir. Bu durum, enerji ithalatına olan talebi ve maliyetleri etkileyebilir. Ayrıca, enerji sektörünün büyümesi ve enerji talebi, global ekonomik koşullara ve enerji fiyatlarına bağlıdır.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Riskler ve Fırsatlar</a:t>
            </a:r>
            <a:endParaRPr lang="en-US" sz="1800" dirty="0"/>
          </a:p>
        </p:txBody>
      </p:sp>
      <p:sp>
        <p:nvSpPr>
          <p:cNvPr id="3" name="Text 1"/>
          <p:cNvSpPr/>
          <p:nvPr/>
        </p:nvSpPr>
        <p:spPr>
          <a:xfrm>
            <a:off x="457200" y="1097280"/>
            <a:ext cx="3657600" cy="274320"/>
          </a:xfrm>
          <a:prstGeom prst="rect">
            <a:avLst/>
          </a:prstGeom>
          <a:noFill/>
          <a:ln/>
        </p:spPr>
        <p:txBody>
          <a:bodyPr wrap="square" rtlCol="0" anchor="ctr"/>
          <a:lstStyle/>
          <a:p>
            <a:pPr indent="0" marL="0">
              <a:buNone/>
            </a:pPr>
            <a:r>
              <a:rPr lang="en-US" sz="1400" b="1" dirty="0">
                <a:solidFill>
                  <a:srgbClr val="FF0000"/>
                </a:solidFill>
              </a:rPr>
              <a:t>Riskler:</a:t>
            </a:r>
            <a:endParaRPr lang="en-US" sz="1400" dirty="0"/>
          </a:p>
        </p:txBody>
      </p:sp>
      <p:sp>
        <p:nvSpPr>
          <p:cNvPr id="4" name="Text 2"/>
          <p:cNvSpPr/>
          <p:nvPr/>
        </p:nvSpPr>
        <p:spPr>
          <a:xfrm>
            <a:off x="457200" y="1463040"/>
            <a:ext cx="3657600" cy="3200400"/>
          </a:xfrm>
          <a:prstGeom prst="rect">
            <a:avLst/>
          </a:prstGeom>
          <a:noFill/>
          <a:ln/>
        </p:spPr>
        <p:txBody>
          <a:bodyPr wrap="square" rtlCol="0" anchor="t"/>
          <a:lstStyle/>
          <a:p>
            <a:pPr indent="0" marL="0">
              <a:buNone/>
            </a:pPr>
            <a:r>
              <a:rPr lang="en-US" sz="1200" dirty="0">
                <a:solidFill>
                  <a:srgbClr val="444444"/>
                </a:solidFill>
              </a:rPr>
              <a:t># Risk Faktörleri</a:t>
            </a:r>
            <a:endParaRPr lang="en-US" sz="1200" dirty="0"/>
          </a:p>
          <a:p>
            <a:pPr indent="0" marL="0">
              <a:buNone/>
            </a:pPr>
            <a:r>
              <a:rPr lang="en-US" sz="1200" dirty="0">
                <a:solidFill>
                  <a:srgbClr val="444444"/>
                </a:solidFill>
              </a:rPr>
              <a:t>* Enerji sektöründeki siyasi ve çevresel faktörlerin hissedarlar üzerinde oluşturabileceği olumsuz etki</a:t>
            </a:r>
            <a:endParaRPr lang="en-US" sz="1200" dirty="0"/>
          </a:p>
          <a:p>
            <a:pPr indent="0" marL="0">
              <a:buNone/>
            </a:pPr>
            <a:r>
              <a:rPr lang="en-US" sz="1200" dirty="0">
                <a:solidFill>
                  <a:srgbClr val="444444"/>
                </a:solidFill>
              </a:rPr>
              <a:t>* Global ekonomik dalgalanmaların enerji fiyatlarına ve talebine olan etkileri</a:t>
            </a:r>
            <a:endParaRPr lang="en-US" sz="1200" dirty="0"/>
          </a:p>
          <a:p>
            <a:pPr indent="0" marL="0">
              <a:buNone/>
            </a:pPr>
            <a:r>
              <a:rPr lang="en-US" sz="1200" dirty="0">
                <a:solidFill>
                  <a:srgbClr val="444444"/>
                </a:solidFill>
              </a:rPr>
              <a:t>* Kur dalgalanmalarının enerji ithalatına olan etkisi</a:t>
            </a:r>
            <a:endParaRPr lang="en-US" sz="1200" dirty="0"/>
          </a:p>
        </p:txBody>
      </p:sp>
      <p:sp>
        <p:nvSpPr>
          <p:cNvPr id="5" name="Text 3"/>
          <p:cNvSpPr/>
          <p:nvPr/>
        </p:nvSpPr>
        <p:spPr>
          <a:xfrm>
            <a:off x="4572000" y="1097280"/>
            <a:ext cx="3657600" cy="274320"/>
          </a:xfrm>
          <a:prstGeom prst="rect">
            <a:avLst/>
          </a:prstGeom>
          <a:noFill/>
          <a:ln/>
        </p:spPr>
        <p:txBody>
          <a:bodyPr wrap="square" rtlCol="0" anchor="ctr"/>
          <a:lstStyle/>
          <a:p>
            <a:pPr indent="0" marL="0">
              <a:buNone/>
            </a:pPr>
            <a:r>
              <a:rPr lang="en-US" sz="1400" b="1" dirty="0">
                <a:solidFill>
                  <a:srgbClr val="008000"/>
                </a:solidFill>
              </a:rPr>
              <a:t>Fırsatlar:</a:t>
            </a:r>
            <a:endParaRPr lang="en-US" sz="1400" dirty="0"/>
          </a:p>
        </p:txBody>
      </p:sp>
      <p:sp>
        <p:nvSpPr>
          <p:cNvPr id="6" name="Text 4"/>
          <p:cNvSpPr/>
          <p:nvPr/>
        </p:nvSpPr>
        <p:spPr>
          <a:xfrm>
            <a:off x="4572000" y="1463040"/>
            <a:ext cx="3657600" cy="3200400"/>
          </a:xfrm>
          <a:prstGeom prst="rect">
            <a:avLst/>
          </a:prstGeom>
          <a:noFill/>
          <a:ln/>
        </p:spPr>
        <p:txBody>
          <a:bodyPr wrap="square" rtlCol="0" anchor="t"/>
          <a:lstStyle/>
          <a:p>
            <a:pPr indent="0" marL="0">
              <a:buNone/>
            </a:pPr>
            <a:r>
              <a:rPr lang="en-US" sz="1200" dirty="0">
                <a:solidFill>
                  <a:srgbClr val="444444"/>
                </a:solidFill>
              </a:rPr>
              <a:t># Fırsat Alanları</a:t>
            </a:r>
            <a:endParaRPr lang="en-US" sz="1200" dirty="0"/>
          </a:p>
          <a:p>
            <a:pPr indent="0" marL="0">
              <a:buNone/>
            </a:pPr>
            <a:r>
              <a:rPr lang="en-US" sz="1200" dirty="0">
                <a:solidFill>
                  <a:srgbClr val="444444"/>
                </a:solidFill>
              </a:rPr>
              <a:t>* Enerji sektöründeki teknoloji gelişmelerinin verimliliği artırma potansiyeli</a:t>
            </a:r>
            <a:endParaRPr lang="en-US" sz="1200" dirty="0"/>
          </a:p>
          <a:p>
            <a:pPr indent="0" marL="0">
              <a:buNone/>
            </a:pPr>
            <a:r>
              <a:rPr lang="en-US" sz="1200" dirty="0">
                <a:solidFill>
                  <a:srgbClr val="444444"/>
                </a:solidFill>
              </a:rPr>
              <a:t>* Türkiye'nin stratejik konumu nedeniyle enerji ticaretinde oynayabileceği kilit rol</a:t>
            </a:r>
            <a:endParaRPr lang="en-US" sz="1200" dirty="0"/>
          </a:p>
          <a:p>
            <a:pPr indent="0" marL="0">
              <a:buNone/>
            </a:pPr>
            <a:r>
              <a:rPr lang="en-US" sz="1200" dirty="0">
                <a:solidFill>
                  <a:srgbClr val="444444"/>
                </a:solidFill>
              </a:rPr>
              <a:t>* Yenilenebilir enerji kaynaklarına olan artan talebin sektörün büyümesine katkısı</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Veri Özeti</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114800"/>
                <a:gridCol w="4114800"/>
              </a:tblGrid>
              <a:tr h="0">
                <a:tc>
                  <a:txBody>
                    <a:bodyPr/>
                    <a:lstStyle/>
                    <a:p>
                      <a:pPr indent="0" marL="0">
                        <a:buNone/>
                      </a:pPr>
                      <a:r>
                        <a:rPr lang="en-US" sz="1200" dirty="0">
                          <a:solidFill>
                            <a:srgbClr val="000000"/>
                          </a:solidFill>
                        </a:rPr>
                        <a:t>Etiket</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Değer</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Son KAP Bildirimleri</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İncelenen Haber Sayısı</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Güncel Fiyat (TL)</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N/A</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Günlük Değişim</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N/A</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2026-05-19T21:50:10Z</dcterms:created>
  <dcterms:modified xsi:type="dcterms:W3CDTF">2026-05-19T21:50:10Z</dcterms:modified>
</cp:coreProperties>
</file>