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914400"/>
            <a:ext cx="7315200" cy="914400"/>
          </a:xfrm>
          <a:prstGeom prst="rect">
            <a:avLst/>
          </a:prstGeom>
          <a:noFill/>
          <a:ln/>
        </p:spPr>
        <p:txBody>
          <a:bodyPr wrap="square" rtlCol="0" anchor="ctr"/>
          <a:lstStyle/>
          <a:p>
            <a:pPr algn="ctr" indent="0" marL="0">
              <a:buNone/>
            </a:pPr>
            <a:r>
              <a:rPr lang="en-US" sz="2400" b="1" dirty="0">
                <a:solidFill>
                  <a:srgbClr val="363636"/>
                </a:solidFill>
              </a:rPr>
              <a:t>BIMAS Sektorel Analiz Raporu</a:t>
            </a:r>
            <a:endParaRPr lang="en-US" sz="2400" dirty="0"/>
          </a:p>
        </p:txBody>
      </p:sp>
      <p:sp>
        <p:nvSpPr>
          <p:cNvPr id="3" name="Text 1"/>
          <p:cNvSpPr/>
          <p:nvPr/>
        </p:nvSpPr>
        <p:spPr>
          <a:xfrm>
            <a:off x="914400" y="2286000"/>
            <a:ext cx="7315200" cy="457200"/>
          </a:xfrm>
          <a:prstGeom prst="rect">
            <a:avLst/>
          </a:prstGeom>
          <a:noFill/>
          <a:ln/>
        </p:spPr>
        <p:txBody>
          <a:bodyPr wrap="square" rtlCol="0" anchor="ctr"/>
          <a:lstStyle/>
          <a:p>
            <a:pPr algn="ctr" indent="0" marL="0">
              <a:buNone/>
            </a:pPr>
            <a:r>
              <a:rPr lang="en-US" sz="1400" dirty="0">
                <a:solidFill>
                  <a:srgbClr val="666666"/>
                </a:solidFill>
              </a:rPr>
              <a:t>Kaynak: KAP, Currents API, Yahoo Finance &amp; TCMB EVDS</a:t>
            </a:r>
            <a:endParaRPr lang="en-US" sz="1400" dirty="0"/>
          </a:p>
        </p:txBody>
      </p:sp>
      <p:sp>
        <p:nvSpPr>
          <p:cNvPr id="4" name="Text 2"/>
          <p:cNvSpPr/>
          <p:nvPr/>
        </p:nvSpPr>
        <p:spPr>
          <a:xfrm>
            <a:off x="914400" y="2743200"/>
            <a:ext cx="7315200" cy="457200"/>
          </a:xfrm>
          <a:prstGeom prst="rect">
            <a:avLst/>
          </a:prstGeom>
          <a:noFill/>
          <a:ln/>
        </p:spPr>
        <p:txBody>
          <a:bodyPr wrap="square" rtlCol="0" anchor="ctr"/>
          <a:lstStyle/>
          <a:p>
            <a:pPr algn="ctr" indent="0" marL="0">
              <a:buNone/>
            </a:pPr>
            <a:r>
              <a:rPr lang="en-US" sz="1200" dirty="0">
                <a:solidFill>
                  <a:srgbClr val="666666"/>
                </a:solidFill>
              </a:rPr>
              <a:t>Oluşturulma Tarihi: 2026-05-17T18:27:19.561Z</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Yönetici Özeti</a:t>
            </a:r>
            <a:endParaRPr lang="en-US" sz="1800" dirty="0"/>
          </a:p>
        </p:txBody>
      </p:sp>
      <p:sp>
        <p:nvSpPr>
          <p:cNvPr id="3" name="Text 1"/>
          <p:cNvSpPr/>
          <p:nvPr/>
        </p:nvSpPr>
        <p:spPr>
          <a:xfrm>
            <a:off x="457200" y="1097280"/>
            <a:ext cx="8229600" cy="3200400"/>
          </a:xfrm>
          <a:prstGeom prst="rect">
            <a:avLst/>
          </a:prstGeom>
          <a:noFill/>
          <a:ln/>
        </p:spPr>
        <p:txBody>
          <a:bodyPr wrap="square" rtlCol="0" anchor="t"/>
          <a:lstStyle/>
          <a:p>
            <a:pPr algn="l" indent="0" marL="0">
              <a:buNone/>
            </a:pPr>
            <a:r>
              <a:rPr lang="en-US" sz="1400" dirty="0">
                <a:solidFill>
                  <a:srgbClr val="444444"/>
                </a:solidFill>
              </a:rPr>
              <a:t># BIMAS Hissesi Yatırım Raporu</a:t>
            </a:r>
            <a:endParaRPr lang="en-US" sz="1400" dirty="0"/>
          </a:p>
          <a:p>
            <a:pPr algn="l" indent="0" marL="0">
              <a:buNone/>
            </a:pPr>
            <a:r>
              <a:rPr lang="en-US" sz="1400" dirty="0">
                <a:solidFill>
                  <a:srgbClr val="444444"/>
                </a:solidFill>
              </a:rPr>
              <a:t>BIMAS hissesi, son veri olarak 405.25 fiyat seviyesinde ve -2.11% günlük değişimle işlem görmektedir. Şirketin Consumer Defensive sektöründe yer alması ve Grocery Stores endüstrisinde faaliyet göstermesi, makroekonomik koşulların hisse fiyatı üzerindeki etkilerini değerlendirmeyi gerektirmektedir. Bu rapor, mevcut piyasa verilerinin, makroekonomik bağlamın ve şirketin faaliyet gösterdiği sektörün analizini içermektedir.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Makroekonomik Bağlam</a:t>
            </a:r>
            <a:endParaRPr lang="en-US" sz="1800" dirty="0"/>
          </a:p>
        </p:txBody>
      </p:sp>
      <p:sp>
        <p:nvSpPr>
          <p:cNvPr id="3" name="Text 1"/>
          <p:cNvSpPr/>
          <p:nvPr/>
        </p:nvSpPr>
        <p:spPr>
          <a:xfrm>
            <a:off x="457200" y="1097280"/>
            <a:ext cx="8229600" cy="3200400"/>
          </a:xfrm>
          <a:prstGeom prst="rect">
            <a:avLst/>
          </a:prstGeom>
          <a:noFill/>
          <a:ln/>
        </p:spPr>
        <p:txBody>
          <a:bodyPr wrap="square" rtlCol="0" anchor="t"/>
          <a:lstStyle/>
          <a:p>
            <a:pPr algn="l" indent="0" marL="0">
              <a:buNone/>
            </a:pPr>
            <a:r>
              <a:rPr lang="en-US" sz="1400" dirty="0">
                <a:solidFill>
                  <a:srgbClr val="444444"/>
                </a:solidFill>
              </a:rPr>
              <a:t># Makroekonomik Bağlam</a:t>
            </a:r>
            <a:endParaRPr lang="en-US" sz="1400" dirty="0"/>
          </a:p>
          <a:p>
            <a:pPr algn="l" indent="0" marL="0">
              <a:buNone/>
            </a:pPr>
            <a:r>
              <a:rPr lang="en-US" sz="1400" dirty="0">
                <a:solidFill>
                  <a:srgbClr val="444444"/>
                </a:solidFill>
              </a:rPr>
              <a:t>TCMB EVDS verilerine göre, son 3 ayda USD/TRY döviz kuru 44.07'den 45.22'ye yükseldi. Bu durum, döviz kurlarındaki dalgalanmaların şirketin mali performansını ve kârlılığını etkileyebileceği anlamına gelmektedir. Ayrıca, TÜFE ve faiz oranlarındaki değişimlerin de şirketin faaliyet göstereceği sektörü ve genel ekonomiyi etkileyebileceği düşünülmelidir.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Riskler ve Fırsatlar</a:t>
            </a:r>
            <a:endParaRPr lang="en-US" sz="1800" dirty="0"/>
          </a:p>
        </p:txBody>
      </p:sp>
      <p:sp>
        <p:nvSpPr>
          <p:cNvPr id="3" name="Text 1"/>
          <p:cNvSpPr/>
          <p:nvPr/>
        </p:nvSpPr>
        <p:spPr>
          <a:xfrm>
            <a:off x="457200" y="1097280"/>
            <a:ext cx="3657600" cy="274320"/>
          </a:xfrm>
          <a:prstGeom prst="rect">
            <a:avLst/>
          </a:prstGeom>
          <a:noFill/>
          <a:ln/>
        </p:spPr>
        <p:txBody>
          <a:bodyPr wrap="square" rtlCol="0" anchor="ctr"/>
          <a:lstStyle/>
          <a:p>
            <a:pPr indent="0" marL="0">
              <a:buNone/>
            </a:pPr>
            <a:r>
              <a:rPr lang="en-US" sz="1400" b="1" dirty="0">
                <a:solidFill>
                  <a:srgbClr val="FF0000"/>
                </a:solidFill>
              </a:rPr>
              <a:t>Riskler:</a:t>
            </a:r>
            <a:endParaRPr lang="en-US" sz="1400" dirty="0"/>
          </a:p>
        </p:txBody>
      </p:sp>
      <p:sp>
        <p:nvSpPr>
          <p:cNvPr id="4" name="Text 2"/>
          <p:cNvSpPr/>
          <p:nvPr/>
        </p:nvSpPr>
        <p:spPr>
          <a:xfrm>
            <a:off x="457200" y="1463040"/>
            <a:ext cx="3657600" cy="3200400"/>
          </a:xfrm>
          <a:prstGeom prst="rect">
            <a:avLst/>
          </a:prstGeom>
          <a:noFill/>
          <a:ln/>
        </p:spPr>
        <p:txBody>
          <a:bodyPr wrap="square" rtlCol="0" anchor="t"/>
          <a:lstStyle/>
          <a:p>
            <a:pPr indent="0" marL="0">
              <a:buNone/>
            </a:pPr>
            <a:r>
              <a:rPr lang="en-US" sz="1200" dirty="0">
                <a:solidFill>
                  <a:srgbClr val="444444"/>
                </a:solidFill>
              </a:rPr>
              <a:t># Risk Faktörleri</a:t>
            </a:r>
            <a:endParaRPr lang="en-US" sz="1200" dirty="0"/>
          </a:p>
          <a:p>
            <a:pPr indent="0" marL="0">
              <a:buNone/>
            </a:pPr>
            <a:r>
              <a:rPr lang="en-US" sz="1200" dirty="0">
                <a:solidFill>
                  <a:srgbClr val="444444"/>
                </a:solidFill>
              </a:rPr>
              <a:t>* Döviz kurlarındaki dalgalanmaların şirketin maliyetlerine ve kârlılığına etkisi</a:t>
            </a:r>
            <a:endParaRPr lang="en-US" sz="1200" dirty="0"/>
          </a:p>
          <a:p>
            <a:pPr indent="0" marL="0">
              <a:buNone/>
            </a:pPr>
            <a:r>
              <a:rPr lang="en-US" sz="1200" dirty="0">
                <a:solidFill>
                  <a:srgbClr val="444444"/>
                </a:solidFill>
              </a:rPr>
              <a:t>* TÜFE ve faiz oranlarındaki değişimlerin şirketin mali performansını etkileyen faktörler olarak görülmesi</a:t>
            </a:r>
            <a:endParaRPr lang="en-US" sz="1200" dirty="0"/>
          </a:p>
          <a:p>
            <a:pPr indent="0" marL="0">
              <a:buNone/>
            </a:pPr>
            <a:r>
              <a:rPr lang="en-US" sz="1200" dirty="0">
                <a:solidFill>
                  <a:srgbClr val="444444"/>
                </a:solidFill>
              </a:rPr>
              <a:t>* Pazar koşullarındaki değişimlerin şirketin fiyatlandırma stratejisi ve müşteri talebi üzerindeki etkisi</a:t>
            </a:r>
            <a:endParaRPr lang="en-US" sz="1200" dirty="0"/>
          </a:p>
        </p:txBody>
      </p:sp>
      <p:sp>
        <p:nvSpPr>
          <p:cNvPr id="5" name="Text 3"/>
          <p:cNvSpPr/>
          <p:nvPr/>
        </p:nvSpPr>
        <p:spPr>
          <a:xfrm>
            <a:off x="4572000" y="1097280"/>
            <a:ext cx="3657600" cy="274320"/>
          </a:xfrm>
          <a:prstGeom prst="rect">
            <a:avLst/>
          </a:prstGeom>
          <a:noFill/>
          <a:ln/>
        </p:spPr>
        <p:txBody>
          <a:bodyPr wrap="square" rtlCol="0" anchor="ctr"/>
          <a:lstStyle/>
          <a:p>
            <a:pPr indent="0" marL="0">
              <a:buNone/>
            </a:pPr>
            <a:r>
              <a:rPr lang="en-US" sz="1400" b="1" dirty="0">
                <a:solidFill>
                  <a:srgbClr val="008000"/>
                </a:solidFill>
              </a:rPr>
              <a:t>Fırsatlar:</a:t>
            </a:r>
            <a:endParaRPr lang="en-US" sz="1400" dirty="0"/>
          </a:p>
        </p:txBody>
      </p:sp>
      <p:sp>
        <p:nvSpPr>
          <p:cNvPr id="6" name="Text 4"/>
          <p:cNvSpPr/>
          <p:nvPr/>
        </p:nvSpPr>
        <p:spPr>
          <a:xfrm>
            <a:off x="4572000" y="1463040"/>
            <a:ext cx="3657600" cy="3200400"/>
          </a:xfrm>
          <a:prstGeom prst="rect">
            <a:avLst/>
          </a:prstGeom>
          <a:noFill/>
          <a:ln/>
        </p:spPr>
        <p:txBody>
          <a:bodyPr wrap="square" rtlCol="0" anchor="t"/>
          <a:lstStyle/>
          <a:p>
            <a:pPr indent="0" marL="0">
              <a:buNone/>
            </a:pPr>
            <a:r>
              <a:rPr lang="en-US" sz="1200" dirty="0">
                <a:solidFill>
                  <a:srgbClr val="444444"/>
                </a:solidFill>
              </a:rPr>
              <a:t># Fırsat Alanları</a:t>
            </a:r>
            <a:endParaRPr lang="en-US" sz="1200" dirty="0"/>
          </a:p>
          <a:p>
            <a:pPr indent="0" marL="0">
              <a:buNone/>
            </a:pPr>
            <a:r>
              <a:rPr lang="en-US" sz="1200" dirty="0">
                <a:solidFill>
                  <a:srgbClr val="444444"/>
                </a:solidFill>
              </a:rPr>
              <a:t>* Consumer Defensive sektörünün genel olarak daha稳il olduğu düşünülerek, ekonomik belirsizliklerin şirket hisselerine olumlu yansımaları</a:t>
            </a:r>
            <a:endParaRPr lang="en-US" sz="1200" dirty="0"/>
          </a:p>
          <a:p>
            <a:pPr indent="0" marL="0">
              <a:buNone/>
            </a:pPr>
            <a:r>
              <a:rPr lang="en-US" sz="1200" dirty="0">
                <a:solidFill>
                  <a:srgbClr val="444444"/>
                </a:solidFill>
              </a:rPr>
              <a:t>* Şirkete ait piyasa değerinin büyüklüğü ve hisse senedi fiyatının 52 haftanın en yüksek fiyatına yakınlığı, şirketin sağlam finansal yapısını ve potansiyel yatırım çekiciliğini göstermektedir</a:t>
            </a:r>
            <a:endParaRPr lang="en-US" sz="1200" dirty="0"/>
          </a:p>
          <a:p>
            <a:pPr indent="0" marL="0">
              <a:buNone/>
            </a:pPr>
            <a:r>
              <a:rPr lang="en-US" sz="1200" dirty="0">
                <a:solidFill>
                  <a:srgbClr val="444444"/>
                </a:solidFill>
              </a:rPr>
              <a:t>* Groceri Stores endüstrisinin büyüme potansiyeli ve şirketin sektördeki konumunun güçlendirilmesi</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Veri Özeti</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114800"/>
                <a:gridCol w="4114800"/>
              </a:tblGrid>
              <a:tr h="0">
                <a:tc>
                  <a:txBody>
                    <a:bodyPr/>
                    <a:lstStyle/>
                    <a:p>
                      <a:pPr indent="0" marL="0">
                        <a:buNone/>
                      </a:pPr>
                      <a:r>
                        <a:rPr lang="en-US" sz="1200" dirty="0">
                          <a:solidFill>
                            <a:srgbClr val="000000"/>
                          </a:solidFill>
                        </a:rPr>
                        <a:t>Etiket</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Değer</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Son KAP Bildirimleri</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0</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Incelenen Haber Sayisi</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0</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Guncel Fiyat (TL)</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405.25</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Gunluk Degisim</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-2.11%</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2026-05-17T18:27:19Z</dcterms:created>
  <dcterms:modified xsi:type="dcterms:W3CDTF">2026-05-17T18:27:19Z</dcterms:modified>
</cp:coreProperties>
</file>